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svg" ContentType="image/svg+xml"/>
  <Default Extension="fntdata" ContentType="application/x-fontdata"/>
  <Default Extension="jpeg" ContentType="image/jpe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14630400" cy="8229600"/>
  <p:notesSz cx="8229600" cy="14630400"/>
  <p:embeddedFontLst>
    <p:embeddedFont>
      <p:font typeface="Instrument Sans Medium" panose="020B0604020202020204" charset="0"/>
      <p:regular r:id="rId21"/>
    </p:embeddedFont>
    <p:embeddedFont>
      <p:font typeface="Instrument Sans Semi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04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slide" Target="/ppt/slides/slide17.xml" Id="rId18" /><Relationship Type="http://schemas.openxmlformats.org/officeDocument/2006/relationships/tableStyles" Target="/ppt/tableStyles.xml" Id="rId26" /><Relationship Type="http://schemas.openxmlformats.org/officeDocument/2006/relationships/slide" Target="/ppt/slides/slide2.xml" Id="rId3" /><Relationship Type="http://schemas.openxmlformats.org/officeDocument/2006/relationships/font" Target="/ppt/fonts/font1.fntdata" Id="rId21" /><Relationship Type="http://schemas.openxmlformats.org/officeDocument/2006/relationships/slide" Target="/ppt/slides/slide6.xml" Id="rId7" /><Relationship Type="http://schemas.openxmlformats.org/officeDocument/2006/relationships/slide" Target="/ppt/slides/slide11.xml" Id="rId12" /><Relationship Type="http://schemas.openxmlformats.org/officeDocument/2006/relationships/slide" Target="/ppt/slides/slide16.xml" Id="rId17" /><Relationship Type="http://schemas.openxmlformats.org/officeDocument/2006/relationships/theme" Target="/ppt/theme/theme1.xml" Id="rId25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notesMaster" Target="/ppt/notesMasters/notesMaster1.xml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viewProps" Target="/ppt/viewProps.xml" Id="rId24" /><Relationship Type="http://schemas.openxmlformats.org/officeDocument/2006/relationships/slide" Target="/ppt/slides/slide4.xml" Id="rId5" /><Relationship Type="http://schemas.openxmlformats.org/officeDocument/2006/relationships/slide" Target="/ppt/slides/slide14.xml" Id="rId15" /><Relationship Type="http://schemas.openxmlformats.org/officeDocument/2006/relationships/presProps" Target="/ppt/presProps.xml" Id="rId23" /><Relationship Type="http://schemas.openxmlformats.org/officeDocument/2006/relationships/slide" Target="/ppt/slides/slide9.xml" Id="rId10" /><Relationship Type="http://schemas.openxmlformats.org/officeDocument/2006/relationships/slide" Target="/ppt/slides/slide18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font" Target="/ppt/fonts/font2.fntdata" Id="rI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40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Id2" /><Relationship Type="http://schemas.openxmlformats.org/officeDocument/2006/relationships/notesMaster" Target="/ppt/notesMasters/notesMaster1.xml" Id="rI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Id2" /><Relationship Type="http://schemas.openxmlformats.org/officeDocument/2006/relationships/notesMaster" Target="/ppt/notesMasters/notesMaster1.xml" Id="rI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Id2" /><Relationship Type="http://schemas.openxmlformats.org/officeDocument/2006/relationships/notesMaster" Target="/ppt/notesMasters/notesMaster1.xml" Id="rI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Id2" /><Relationship Type="http://schemas.openxmlformats.org/officeDocument/2006/relationships/notesMaster" Target="/ppt/notesMasters/notesMaster1.xml" Id="rI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Id2" /><Relationship Type="http://schemas.openxmlformats.org/officeDocument/2006/relationships/notesMaster" Target="/ppt/notesMasters/notesMaster1.xml" Id="rI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Id2" /><Relationship Type="http://schemas.openxmlformats.org/officeDocument/2006/relationships/notesMaster" Target="/ppt/notesMasters/notesMaster1.xml" Id="rI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Id2" /><Relationship Type="http://schemas.openxmlformats.org/officeDocument/2006/relationships/notesMaster" Target="/ppt/notesMasters/notesMaster1.xml" Id="rI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Id2" /><Relationship Type="http://schemas.openxmlformats.org/officeDocument/2006/relationships/notesMaster" Target="/ppt/notesMasters/notesMaster1.xml" Id="rI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2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7.svg" Id="rId8" /><Relationship Type="http://schemas.openxmlformats.org/officeDocument/2006/relationships/image" Target="/ppt/media/image2.png" Id="rId3" /><Relationship Type="http://schemas.openxmlformats.org/officeDocument/2006/relationships/image" Target="/ppt/media/image6.png" Id="rId7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3.xml" Id="rId1" /><Relationship Type="http://schemas.openxmlformats.org/officeDocument/2006/relationships/image" Target="/ppt/media/image5.svg" Id="rId6" /><Relationship Type="http://schemas.openxmlformats.org/officeDocument/2006/relationships/image" Target="/ppt/media/image4.png" Id="rId5" /><Relationship Type="http://schemas.openxmlformats.org/officeDocument/2006/relationships/image" Target="/ppt/media/image9.svg" Id="rId10" /><Relationship Type="http://schemas.openxmlformats.org/officeDocument/2006/relationships/image" Target="/ppt/media/image3.svg" Id="rId4" /><Relationship Type="http://schemas.openxmlformats.org/officeDocument/2006/relationships/image" Target="/ppt/media/image8.png" Id="rI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0.png" Id="rId3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4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1.png" Id="rId3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5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6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2.png" Id="rId3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7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3.png" Id="rId3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8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4.png" Id="rId3" /><Relationship Type="http://schemas.openxmlformats.org/officeDocument/2006/relationships/image" Target="/ppt/media/image18.png" Id="rId7" /><Relationship Type="http://schemas.openxmlformats.org/officeDocument/2006/relationships/notesSlide" Target="/ppt/notesSlides/notesSlide8.xml" Id="rId2" /><Relationship Type="http://schemas.openxmlformats.org/officeDocument/2006/relationships/slideLayout" Target="/ppt/slideLayouts/slideLayout9.xml" Id="rId1" /><Relationship Type="http://schemas.openxmlformats.org/officeDocument/2006/relationships/image" Target="/ppt/media/image17.png" Id="rId6" /><Relationship Type="http://schemas.openxmlformats.org/officeDocument/2006/relationships/image" Target="/ppt/media/image16.png" Id="rId5" /><Relationship Type="http://schemas.openxmlformats.org/officeDocument/2006/relationships/image" Target="/ppt/media/image15.png" Id="rI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9.png" Id="rId3" /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10.xml" Id="rId1" /><Relationship Type="http://schemas.openxmlformats.org/officeDocument/2006/relationships/image" Target="/ppt/media/image20.png" Id="rI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notesSlide" Target="/ppt/notesSlides/notesSlide10.xml" Id="rId2" /><Relationship Type="http://schemas.openxmlformats.org/officeDocument/2006/relationships/slideLayout" Target="/ppt/slideLayouts/slideLayout1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notesSlide" Target="/ppt/notesSlides/notesSlide11.xml" Id="rId2" /><Relationship Type="http://schemas.openxmlformats.org/officeDocument/2006/relationships/slideLayout" Target="/ppt/slideLayouts/slideLayout3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1.png" Id="rId3" /><Relationship Type="http://schemas.openxmlformats.org/officeDocument/2006/relationships/notesSlide" Target="/ppt/notesSlides/notesSlide12.xml" Id="rId2" /><Relationship Type="http://schemas.openxmlformats.org/officeDocument/2006/relationships/slideLayout" Target="/ppt/slideLayouts/slideLayout4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22.png" Id="rId3" /><Relationship Type="http://schemas.openxmlformats.org/officeDocument/2006/relationships/notesSlide" Target="/ppt/notesSlides/notesSlide13.xml" Id="rId2" /><Relationship Type="http://schemas.openxmlformats.org/officeDocument/2006/relationships/slideLayout" Target="/ppt/slideLayouts/slideLayout5.xml" Id="rId1" /><Relationship Type="http://schemas.openxmlformats.org/officeDocument/2006/relationships/image" Target="/ppt/media/image25.png" Id="rId6" /><Relationship Type="http://schemas.openxmlformats.org/officeDocument/2006/relationships/image" Target="/ppt/media/image24.png" Id="rId5" /><Relationship Type="http://schemas.openxmlformats.org/officeDocument/2006/relationships/image" Target="/ppt/media/image23.png" Id="rI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31.png" Id="rId8" /><Relationship Type="http://schemas.openxmlformats.org/officeDocument/2006/relationships/image" Target="/ppt/media/image26.jpeg" Id="rId3" /><Relationship Type="http://schemas.openxmlformats.org/officeDocument/2006/relationships/image" Target="/ppt/media/image30.svg" Id="rId7" /><Relationship Type="http://schemas.openxmlformats.org/officeDocument/2006/relationships/notesSlide" Target="/ppt/notesSlides/notesSlide14.xml" Id="rId2" /><Relationship Type="http://schemas.openxmlformats.org/officeDocument/2006/relationships/slideLayout" Target="/ppt/slideLayouts/slideLayout6.xml" Id="rId1" /><Relationship Type="http://schemas.openxmlformats.org/officeDocument/2006/relationships/image" Target="/ppt/media/image29.png" Id="rId6" /><Relationship Type="http://schemas.openxmlformats.org/officeDocument/2006/relationships/image" Target="/ppt/media/image28.svg" Id="rId5" /><Relationship Type="http://schemas.openxmlformats.org/officeDocument/2006/relationships/image" Target="/ppt/media/image27.png" Id="rId4" /><Relationship Type="http://schemas.openxmlformats.org/officeDocument/2006/relationships/image" Target="/ppt/media/image32.svg" Id="rI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33.png" Id="rId3" /><Relationship Type="http://schemas.openxmlformats.org/officeDocument/2006/relationships/notesSlide" Target="/ppt/notesSlides/notesSlide15.xml" Id="rId2" /><Relationship Type="http://schemas.openxmlformats.org/officeDocument/2006/relationships/slideLayout" Target="/ppt/slideLayouts/slideLayout7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Id2" /><Relationship Type="http://schemas.openxmlformats.org/officeDocument/2006/relationships/slideLayout" Target="/ppt/slideLayouts/slideLayout8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notesSlide" Target="/ppt/notesSlides/notesSlide17.xml" Id="rId2" /><Relationship Type="http://schemas.openxmlformats.org/officeDocument/2006/relationships/slideLayout" Target="/ppt/slideLayouts/slideLayout10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34.png" Id="rId3" /><Relationship Type="http://schemas.openxmlformats.org/officeDocument/2006/relationships/notesSlide" Target="/ppt/notesSlides/notesSlide18.xml" Id="rId2" /><Relationship Type="http://schemas.openxmlformats.org/officeDocument/2006/relationships/slideLayout" Target="/ppt/slideLayouts/slideLayout1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910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End-to-End Startup Funding Intelligence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Scraping → Data Engineering → ML → Full-Stack Dashboard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|  Selenium | Pandas | MySQL | XGBoost | Streamlit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755213"/>
            <a:ext cx="5320784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855" y="1845945"/>
            <a:ext cx="6463903" cy="2417802"/>
          </a:xfrm>
          <a:prstGeom prst="roundRect">
            <a:avLst>
              <a:gd name="adj" fmla="val 7923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957620" y="2058710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84C1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118" y="2234208"/>
            <a:ext cx="287298" cy="287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7620" y="2909888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Collection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57620" y="3369945"/>
            <a:ext cx="6038374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scraping pipeline capturing 10,000+ funding events from multiple sources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1523" y="1845945"/>
            <a:ext cx="6464022" cy="2417802"/>
          </a:xfrm>
          <a:prstGeom prst="roundRect">
            <a:avLst>
              <a:gd name="adj" fmla="val 7923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7634288" y="2058710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9786" y="2234208"/>
            <a:ext cx="287298" cy="2872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4288" y="2909888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 Models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7634288" y="3369945"/>
            <a:ext cx="603849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  XGBoost models for predictions and investor scoring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44855" y="4476512"/>
            <a:ext cx="6463903" cy="2077283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14" name="Shape 10"/>
          <p:cNvSpPr/>
          <p:nvPr/>
        </p:nvSpPr>
        <p:spPr>
          <a:xfrm>
            <a:off x="957620" y="4689277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84C1F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3118" y="4864775"/>
            <a:ext cx="287298" cy="2872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7620" y="5540454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Authentication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57620" y="6000512"/>
            <a:ext cx="603837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multi-user system with personalization features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21523" y="4476512"/>
            <a:ext cx="6464022" cy="2077283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19" name="Shape 14"/>
          <p:cNvSpPr/>
          <p:nvPr/>
        </p:nvSpPr>
        <p:spPr>
          <a:xfrm>
            <a:off x="7634288" y="4689277"/>
            <a:ext cx="638413" cy="638413"/>
          </a:xfrm>
          <a:prstGeom prst="roundRect">
            <a:avLst>
              <a:gd name="adj" fmla="val 14321584"/>
            </a:avLst>
          </a:prstGeom>
          <a:solidFill>
            <a:srgbClr val="84C1F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09786" y="4864775"/>
            <a:ext cx="287298" cy="2872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4288" y="5540454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Interactive UI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7634288" y="6000512"/>
            <a:ext cx="603849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Full-featured Streamlit dashboard with real-time analytics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4855" y="6793230"/>
            <a:ext cx="1314069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production-grade analytics platform combining advanced data engineering with machine learning to deliver actionable startup funding insights.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21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978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&amp; Backend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64998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Scraping: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Selenium + ChromeDriver (headless)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5508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Processing: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Pandas, NumPy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89727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MySQL with connection pooling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0237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XGBoost + Sklearn Pipeline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29978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 &amp; Security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4856321" y="364998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UI Framework: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Streamlit Multi-page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45508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Visualization: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Plotly Express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89727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SHA-256 hashing + session state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70237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startuptalky.com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53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1127" y="530185"/>
            <a:ext cx="5637133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1: Data Acquisition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61127" y="1421963"/>
            <a:ext cx="7794546" cy="2004417"/>
          </a:xfrm>
          <a:prstGeom prst="roundRect">
            <a:avLst>
              <a:gd name="adj" fmla="val 865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83987" y="1444823"/>
            <a:ext cx="771168" cy="1958697"/>
          </a:xfrm>
          <a:prstGeom prst="roundRect">
            <a:avLst>
              <a:gd name="adj" fmla="val 18945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6424970" y="2243376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147917" y="1637586"/>
            <a:ext cx="241006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Kaggle Dataset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147917" y="2054423"/>
            <a:ext cx="65921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Period: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2015–2019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47917" y="2478405"/>
            <a:ext cx="65921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Method: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CSV download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47917" y="2902387"/>
            <a:ext cx="65921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Rows: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~3,100 funding events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61127" y="3619143"/>
            <a:ext cx="7794546" cy="2004417"/>
          </a:xfrm>
          <a:prstGeom prst="roundRect">
            <a:avLst>
              <a:gd name="adj" fmla="val 865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83987" y="3642003"/>
            <a:ext cx="771168" cy="1958697"/>
          </a:xfrm>
          <a:prstGeom prst="roundRect">
            <a:avLst>
              <a:gd name="adj" fmla="val 18945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6424970" y="4440555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7147917" y="3834765"/>
            <a:ext cx="241006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Web Scraping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147917" y="4251603"/>
            <a:ext cx="65921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Period: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2020–2025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47917" y="4675584"/>
            <a:ext cx="65921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Method: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Selenium + Headless Chrome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47917" y="5099566"/>
            <a:ext cx="65921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Rows: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~9,800 funding events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61127" y="5816322"/>
            <a:ext cx="7794546" cy="1888808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83987" y="5839182"/>
            <a:ext cx="771168" cy="1843087"/>
          </a:xfrm>
          <a:prstGeom prst="roundRect">
            <a:avLst>
              <a:gd name="adj" fmla="val 18945"/>
            </a:avLst>
          </a:prstGeom>
          <a:solidFill>
            <a:srgbClr val="CEE6FD"/>
          </a:solidFill>
          <a:ln/>
        </p:spPr>
      </p:sp>
      <p:sp>
        <p:nvSpPr>
          <p:cNvPr id="20" name="Text 17"/>
          <p:cNvSpPr/>
          <p:nvPr/>
        </p:nvSpPr>
        <p:spPr>
          <a:xfrm>
            <a:off x="6424970" y="657998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7147917" y="6031944"/>
            <a:ext cx="241006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Integration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7147917" y="6448782"/>
            <a:ext cx="6592133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Standardized column names, cleaned duplicates, normalized cities &amp; sectors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147917" y="7181136"/>
            <a:ext cx="659213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Final Output: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5,862 merged funding events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1063"/>
            <a:ext cx="110231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2: Data Cleaning &amp; Standardization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68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5,862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188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Total Rows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7903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Funding events from Jan 2015 to Oct 2025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1568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4,183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188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Unique Companies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67903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Diverse startup portfolio analyzed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1568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5,302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188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Unique Investors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67903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Comprehensive investor network mapped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6599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15032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189339"/>
            <a:ext cx="55874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Fuzzy name matching for entity resolution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28548" y="46599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015032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189339"/>
            <a:ext cx="40847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Currency conversion ($ → ₹ Cr)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94050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6295549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0" name="Text 18"/>
          <p:cNvSpPr/>
          <p:nvPr/>
        </p:nvSpPr>
        <p:spPr>
          <a:xfrm>
            <a:off x="793790" y="6469856"/>
            <a:ext cx="53075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Date parsing with synthetic stable dates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28548" y="594050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428548" y="6295549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3" name="Text 21"/>
          <p:cNvSpPr/>
          <p:nvPr/>
        </p:nvSpPr>
        <p:spPr>
          <a:xfrm>
            <a:off x="7428548" y="6469856"/>
            <a:ext cx="64080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Sector/Sub-sector mapping &amp; duplicate removal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0523" y="474702"/>
            <a:ext cx="5906572" cy="53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3: Feature Engineering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090523" y="1273016"/>
            <a:ext cx="793575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4 production-ready tables with leakage-proof features for robust ML predictions: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90523" y="1743432"/>
            <a:ext cx="7935754" cy="1374100"/>
          </a:xfrm>
          <a:prstGeom prst="roundRect">
            <a:avLst>
              <a:gd name="adj" fmla="val 11307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6263045" y="1915954"/>
            <a:ext cx="227266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df_enhanced_fixed.csv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63045" y="2289096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Cumulative funding metrics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63045" y="2668786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Rolling 6-month &amp; 12-month windows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90523" y="3290054"/>
            <a:ext cx="7935754" cy="1374100"/>
          </a:xfrm>
          <a:prstGeom prst="roundRect">
            <a:avLst>
              <a:gd name="adj" fmla="val 11307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6263045" y="3462576"/>
            <a:ext cx="2999542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company_enhanced_fixed.csv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263045" y="3835718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funding per company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63045" y="4215408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Round counts &amp; progression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90523" y="4836676"/>
            <a:ext cx="7935754" cy="1374100"/>
          </a:xfrm>
          <a:prstGeom prst="roundRect">
            <a:avLst>
              <a:gd name="adj" fmla="val 11307"/>
            </a:avLst>
          </a:prstGeom>
          <a:solidFill>
            <a:srgbClr val="CEE6FD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045" y="5009198"/>
            <a:ext cx="2876907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investor_enhanced_fixed.csv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63045" y="5382339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HHI concentration index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63045" y="5762030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unique leads &amp; top sectors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90523" y="6383298"/>
            <a:ext cx="7935754" cy="1374100"/>
          </a:xfrm>
          <a:prstGeom prst="roundRect">
            <a:avLst>
              <a:gd name="adj" fmla="val 11307"/>
            </a:avLst>
          </a:prstGeom>
          <a:solidFill>
            <a:srgbClr val="CEE6FD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045" y="6555819"/>
            <a:ext cx="3499604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market_signals_summary_fixed.csv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263045" y="6928961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6-month average funding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63045" y="7308652"/>
            <a:ext cx="75907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momentum indicators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CDCC39D-CBD0-1D56-24B6-0F5525D3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59" y="186266"/>
            <a:ext cx="12331508" cy="78570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9344" y="544473"/>
            <a:ext cx="7758113" cy="123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 &amp; Authentication System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4" y="2078712"/>
            <a:ext cx="989886" cy="11878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67111" y="2276594"/>
            <a:ext cx="2474833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Signup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367111" y="2704624"/>
            <a:ext cx="65703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SHA-256 hashing → INSERT users table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344" y="3266599"/>
            <a:ext cx="989886" cy="11878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67111" y="3464481"/>
            <a:ext cx="2474833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Login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367111" y="3892510"/>
            <a:ext cx="65703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 credentials → session_state.logged_in=True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4" y="4454485"/>
            <a:ext cx="989886" cy="11878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67111" y="4652367"/>
            <a:ext cx="2474833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Onboarding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367111" y="5080397"/>
            <a:ext cx="65703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First login → save user preferences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344" y="5642372"/>
            <a:ext cx="989886" cy="11878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67111" y="5840254"/>
            <a:ext cx="2474833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Tracking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7367111" y="6268283"/>
            <a:ext cx="65703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 every action for personalization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179344" y="7052905"/>
            <a:ext cx="7758113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Schema: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users, preferences, activity, watchlist, insights tables with full relational integrity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06291"/>
            <a:ext cx="72873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Modular Code Architecture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495693" y="2280404"/>
            <a:ext cx="3070503" cy="471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208204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273415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53925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34435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14945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59165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7768B0-43D6-F23D-0706-0BB5E372C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800090"/>
            <a:ext cx="7689810" cy="58143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2234"/>
            <a:ext cx="58518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Engineering Wins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Anti-Bot Measures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61874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Selenium + random delays + proxy rotation to bypass detection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307145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Leakage Prevention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391620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Strict lagged features ensuring model integrity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Lightweight Auth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56187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SHA-256 + session_state without Django overhead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3071455"/>
            <a:ext cx="29771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Multi-Page Navigation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356187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 switch_page() for seamless UX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331023"/>
            <a:ext cx="29000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Robust Data Handling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821442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clean_input() function managing missing values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25278" y="5331023"/>
            <a:ext cx="29442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Personalization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25278" y="5821442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Activity logging driving tailored insights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618"/>
            <a:ext cx="57883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2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Overview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03258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funding patterns and market movements in real-time.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2712839"/>
            <a:ext cx="30014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Company Deep Profile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320325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Comprehensive insights into startup performance and history.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2712839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Investor Network Graph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557587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Visualize connections between investors and portfolio companies.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2712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Market Heatmap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320325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hot sectors and emerging opportunities at a glance.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326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Live ML Forecasts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817156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predictions for funding trends and valuations.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25278" y="5326737"/>
            <a:ext cx="30133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Personalized "For You"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25278" y="581715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Tailored insights based on your interests and portfolio.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16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 Summary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85392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5,862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288571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Clean Funding Events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730466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Validated and structured data points across multiple years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185392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16+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288571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Engineered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730466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data transformations for ML model training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185392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288571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Production ML Models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730466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Deployed models delivering real-time predictions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6640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Full User System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3790" y="6245185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 authentication and personalization capabilities for tailored experiences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5664041"/>
            <a:ext cx="2867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Modular Architecture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56321" y="624518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 design enabling easy expansion and maintenance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88545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Challenges &amp; Solutions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3675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Dynamic Website Elements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Implemented WebDriverWait for reliable element detection and interaction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Structure Changes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fallback XPATHs to handle evolving website architectures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Infinite Scroll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JS-based scroll simulation for complete data capture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Dates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Generated synthetic dates to maintain data continuity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889" y="498038"/>
            <a:ext cx="4950500" cy="56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Quality &amp; Security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89" y="1539240"/>
            <a:ext cx="6460450" cy="64604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43681" y="1539240"/>
            <a:ext cx="6460450" cy="1840349"/>
          </a:xfrm>
          <a:prstGeom prst="roundRect">
            <a:avLst>
              <a:gd name="adj" fmla="val 8857"/>
            </a:avLst>
          </a:prstGeom>
          <a:solidFill>
            <a:srgbClr val="CEE6FD"/>
          </a:solidFill>
          <a:ln/>
        </p:spPr>
      </p:sp>
      <p:sp>
        <p:nvSpPr>
          <p:cNvPr id="5" name="Shape 2"/>
          <p:cNvSpPr/>
          <p:nvPr/>
        </p:nvSpPr>
        <p:spPr>
          <a:xfrm>
            <a:off x="7724775" y="1720334"/>
            <a:ext cx="543282" cy="543282"/>
          </a:xfrm>
          <a:prstGeom prst="roundRect">
            <a:avLst>
              <a:gd name="adj" fmla="val 16829355"/>
            </a:avLst>
          </a:prstGeom>
          <a:solidFill>
            <a:srgbClr val="84C1F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198" y="1869758"/>
            <a:ext cx="244435" cy="2444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24775" y="2444710"/>
            <a:ext cx="226397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Leakage Prevention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724775" y="2908816"/>
            <a:ext cx="6098262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Used lagged features only to ensure model integrity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543681" y="3560683"/>
            <a:ext cx="6460450" cy="1840349"/>
          </a:xfrm>
          <a:prstGeom prst="roundRect">
            <a:avLst>
              <a:gd name="adj" fmla="val 8857"/>
            </a:avLst>
          </a:prstGeom>
          <a:solidFill>
            <a:srgbClr val="CEE6FD"/>
          </a:solidFill>
          <a:ln/>
        </p:spPr>
      </p:sp>
      <p:sp>
        <p:nvSpPr>
          <p:cNvPr id="10" name="Shape 6"/>
          <p:cNvSpPr/>
          <p:nvPr/>
        </p:nvSpPr>
        <p:spPr>
          <a:xfrm>
            <a:off x="7724775" y="3741777"/>
            <a:ext cx="543282" cy="543282"/>
          </a:xfrm>
          <a:prstGeom prst="roundRect">
            <a:avLst>
              <a:gd name="adj" fmla="val 16829355"/>
            </a:avLst>
          </a:prstGeom>
          <a:solidFill>
            <a:srgbClr val="84C1F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4198" y="3891201"/>
            <a:ext cx="244435" cy="2444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4775" y="4466153"/>
            <a:ext cx="2496145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 Authentication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724775" y="4930259"/>
            <a:ext cx="6098262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Implemented SHA-256 security system for user protection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543681" y="5582126"/>
            <a:ext cx="6460450" cy="1840349"/>
          </a:xfrm>
          <a:prstGeom prst="roundRect">
            <a:avLst>
              <a:gd name="adj" fmla="val 8857"/>
            </a:avLst>
          </a:prstGeom>
          <a:solidFill>
            <a:srgbClr val="CEE6FD"/>
          </a:solidFill>
          <a:ln/>
        </p:spPr>
      </p:sp>
      <p:sp>
        <p:nvSpPr>
          <p:cNvPr id="15" name="Shape 10"/>
          <p:cNvSpPr/>
          <p:nvPr/>
        </p:nvSpPr>
        <p:spPr>
          <a:xfrm>
            <a:off x="7724775" y="5763220"/>
            <a:ext cx="543282" cy="543282"/>
          </a:xfrm>
          <a:prstGeom prst="roundRect">
            <a:avLst>
              <a:gd name="adj" fmla="val 16829355"/>
            </a:avLst>
          </a:prstGeom>
          <a:solidFill>
            <a:srgbClr val="84C1F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4198" y="5912644"/>
            <a:ext cx="244435" cy="2444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24775" y="6487597"/>
            <a:ext cx="235172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Personalization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724775" y="6951702"/>
            <a:ext cx="6098262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Rule-based engine with NLP-ready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4080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Roadmap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53395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Expanding capabilities with advanced NLP and AI technologies to deliver even deeper insights and automation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6939677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NLP-Powered Intelligence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2361" y="1782842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2361" y="2137053"/>
            <a:ext cx="6409611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792361" y="2311122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 Sector Tagging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2361" y="2800588"/>
            <a:ext cx="640961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Leverage IndicBERT for automatic industry classification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309" y="1782842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309" y="2137053"/>
            <a:ext cx="6409730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7428309" y="2311122"/>
            <a:ext cx="3281839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Investor Matching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309" y="2800588"/>
            <a:ext cx="640973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NLP embeddings to connect startups with ideal investors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2361" y="3921323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2361" y="4275534"/>
            <a:ext cx="6409611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792361" y="4449604"/>
            <a:ext cx="3612833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Company Similarity Engine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2361" y="4939070"/>
            <a:ext cx="640961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 Sentence Transformers to find comparable companies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309" y="3921323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309" y="4275534"/>
            <a:ext cx="6409730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309" y="4449604"/>
            <a:ext cx="28299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Sentiment Analysis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309" y="4939070"/>
            <a:ext cx="640973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funding news to gauge market sentiment and trends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2361" y="6059805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2361" y="6414016"/>
            <a:ext cx="6409611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1" name="Text 19"/>
          <p:cNvSpPr/>
          <p:nvPr/>
        </p:nvSpPr>
        <p:spPr>
          <a:xfrm>
            <a:off x="792361" y="6588085"/>
            <a:ext cx="3203496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Auto-Extract New Deals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2361" y="7077551"/>
            <a:ext cx="640961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Combine RSS feeds with NLP for real-time deal discovery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309" y="6059805"/>
            <a:ext cx="22633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309" y="6414016"/>
            <a:ext cx="6409730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309" y="6588085"/>
            <a:ext cx="3071455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Voice-Enabled Queries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309" y="7077551"/>
            <a:ext cx="640973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Whisper and RAG for natural language interactions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79" y="560308"/>
            <a:ext cx="7547253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End-to-End Production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name="adj" fmla="val 800148"/>
            </a:avLst>
          </a:prstGeom>
          <a:solidFill>
            <a:srgbClr val="B4CCE3"/>
          </a:solidFill>
          <a:ln/>
        </p:spPr>
      </p:sp>
      <p:sp>
        <p:nvSpPr>
          <p:cNvPr id="4" name="Shape 2"/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B4CCE3"/>
          </a:solidFill>
          <a:ln/>
        </p:spPr>
      </p:sp>
      <p:sp>
        <p:nvSpPr>
          <p:cNvPr id="5" name="Shape 3"/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7162800" y="16397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58684" y="167139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Scraping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279" y="2110859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data collection from multiple sources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B4CCE3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11" name="Text 9"/>
          <p:cNvSpPr/>
          <p:nvPr/>
        </p:nvSpPr>
        <p:spPr>
          <a:xfrm>
            <a:off x="7162800" y="28589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31279" y="289059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Engineering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31279" y="3330059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creation and data transformation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B4CCE3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7162800" y="390989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58684" y="3941564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279" y="4381024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training and prediction generation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B4CCE3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21" name="Text 19"/>
          <p:cNvSpPr/>
          <p:nvPr/>
        </p:nvSpPr>
        <p:spPr>
          <a:xfrm>
            <a:off x="7162800" y="4960858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31279" y="499252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31279" y="5431988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visualization and insights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B4CCE3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26" name="Text 24"/>
          <p:cNvSpPr/>
          <p:nvPr/>
        </p:nvSpPr>
        <p:spPr>
          <a:xfrm>
            <a:off x="7162800" y="601182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58684" y="6043493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Personalization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1279" y="6482953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Tailored user experiences and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2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20351" y="2916912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production-ready system delivering real, multi-year Indian startup funding intelligence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661761"/>
            <a:ext cx="30480" cy="1236107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4379833"/>
            <a:ext cx="2122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Comprehensive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4960977"/>
            <a:ext cx="212276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pipeline from data collection to actionable insights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63978" y="4379833"/>
            <a:ext cx="2122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Intelligent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63978" y="4960977"/>
            <a:ext cx="212276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ML-powered predictions and personalized recommendations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647765" y="4379833"/>
            <a:ext cx="2203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Scalable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647765" y="4960977"/>
            <a:ext cx="22038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Modular architecture ready for future enhancements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838</Words>
  <Application>Microsoft Office PowerPoint</Application>
  <PresentationFormat>Custom</PresentationFormat>
  <Paragraphs>201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Instrument Sans Semi Bold</vt:lpstr>
      <vt:lpstr>Instrument Sans Medium</vt:lpstr>
      <vt:lpstr>Instrument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KEYUR</dc:creator>
  <cp:lastModifiedBy>Keyur Korat</cp:lastModifiedBy>
  <cp:revision>2</cp:revision>
  <dcterms:created xsi:type="dcterms:W3CDTF">2025-11-28T08:17:14Z</dcterms:created>
  <dcterms:modified xsi:type="dcterms:W3CDTF">2025-11-28T08:50:06Z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9563029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